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400" b="1">
                <a:solidFill>
                  <a:srgbClr val="235D54"/>
                </a:solidFill>
                <a:latin typeface="Arial"/>
              </a:defRPr>
            </a:pPr>
            <a:r>
              <a:t>Variables and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 b="0">
                <a:solidFill>
                  <a:srgbClr val="62696C"/>
                </a:solidFill>
                <a:latin typeface="Arial"/>
              </a:defRPr>
            </a:pPr>
            <a:r>
              <a:t>Introduction to Programming | Synthetic CourseDock demo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700" b="0">
                <a:solidFill>
                  <a:srgbClr val="293237"/>
                </a:solidFill>
                <a:latin typeface="Arial"/>
              </a:defRPr>
            </a:pPr>
            <a:r>
              <a:t>A variable names a value.</a:t>
            </a:r>
          </a:p>
          <a:p>
            <a:pPr>
              <a:spcAft>
                <a:spcPts val="1500"/>
              </a:spcAft>
              <a:defRPr sz="2700" b="0">
                <a:solidFill>
                  <a:srgbClr val="293237"/>
                </a:solidFill>
                <a:latin typeface="Arial"/>
              </a:defRPr>
            </a:pPr>
            <a:r>
              <a:t>A comparison returns True or False.</a:t>
            </a:r>
          </a:p>
          <a:p>
            <a:pPr>
              <a:spcAft>
                <a:spcPts val="1500"/>
              </a:spcAft>
              <a:defRPr sz="2700" b="0">
                <a:solidFill>
                  <a:srgbClr val="293237"/>
                </a:solidFill>
                <a:latin typeface="Arial"/>
              </a:defRPr>
            </a:pPr>
            <a:r>
              <a:t>An if / else statement selects one branch.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0">
                <a:solidFill>
                  <a:srgbClr val="293237"/>
                </a:solidFill>
                <a:latin typeface="Arial"/>
              </a:defRPr>
            </a:pPr>
            <a:r>
              <a:t>score = 72</a:t>
            </a:r>
          </a:p>
          <a:p>
            <a:pPr>
              <a:spcAft>
                <a:spcPts val="1500"/>
              </a:spcAft>
              <a:defRPr sz="2200" b="0">
                <a:solidFill>
                  <a:srgbClr val="293237"/>
                </a:solidFill>
                <a:latin typeface="Arial"/>
              </a:defRPr>
            </a:pPr>
          </a:p>
          <a:p>
            <a:pPr>
              <a:spcAft>
                <a:spcPts val="1500"/>
              </a:spcAft>
              <a:defRPr sz="2200" b="0">
                <a:solidFill>
                  <a:srgbClr val="293237"/>
                </a:solidFill>
                <a:latin typeface="Arial"/>
              </a:defRPr>
            </a:pPr>
            <a:r>
              <a:t>if score &gt;= 60:</a:t>
            </a:r>
          </a:p>
          <a:p>
            <a:pPr>
              <a:spcAft>
                <a:spcPts val="1500"/>
              </a:spcAft>
              <a:defRPr sz="2200" b="0">
                <a:solidFill>
                  <a:srgbClr val="293237"/>
                </a:solidFill>
                <a:latin typeface="Arial"/>
              </a:defRPr>
            </a:pPr>
            <a:r>
              <a:t>    print("Practice passed")</a:t>
            </a:r>
          </a:p>
          <a:p>
            <a:pPr>
              <a:spcAft>
                <a:spcPts val="1500"/>
              </a:spcAft>
              <a:defRPr sz="2200" b="0">
                <a:solidFill>
                  <a:srgbClr val="293237"/>
                </a:solidFill>
                <a:latin typeface="Arial"/>
              </a:defRPr>
            </a:pPr>
            <a:r>
              <a:t>else:</a:t>
            </a:r>
          </a:p>
          <a:p>
            <a:pPr>
              <a:spcAft>
                <a:spcPts val="1500"/>
              </a:spcAft>
              <a:defRPr sz="2200" b="0">
                <a:solidFill>
                  <a:srgbClr val="293237"/>
                </a:solidFill>
                <a:latin typeface="Arial"/>
              </a:defRPr>
            </a:pPr>
            <a:r>
              <a:t>    print("Try again")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400" b="1">
                <a:solidFill>
                  <a:srgbClr val="235D54"/>
                </a:solidFill>
                <a:latin typeface="Arial"/>
              </a:defRPr>
            </a:pPr>
            <a:r>
              <a:t>Trace the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 b="0">
                <a:solidFill>
                  <a:srgbClr val="62696C"/>
                </a:solidFill>
                <a:latin typeface="Arial"/>
              </a:defRPr>
            </a:pPr>
            <a:r>
              <a:t>Introduction to Programming | Synthetic CourseDock demo lesson</a:t>
            </a:r>
          </a:p>
        </p:txBody>
      </p:sp>
      <p:pic>
        <p:nvPicPr>
          <p:cNvPr id="4" name="Picture 3" descr="programming-decis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371600"/>
            <a:ext cx="6715354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400" b="1">
                <a:solidFill>
                  <a:srgbClr val="235D54"/>
                </a:solidFill>
                <a:latin typeface="Arial"/>
              </a:defRPr>
            </a:pPr>
            <a:r>
              <a:t>Test the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100" b="0">
                <a:solidFill>
                  <a:srgbClr val="62696C"/>
                </a:solidFill>
                <a:latin typeface="Arial"/>
              </a:defRPr>
            </a:pPr>
            <a:r>
              <a:t>Introduction to Programming | Synthetic CourseDock demo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800" b="0">
                <a:solidFill>
                  <a:srgbClr val="293237"/>
                </a:solidFill>
                <a:latin typeface="Arial"/>
              </a:defRPr>
            </a:pPr>
            <a:r>
              <a:t>45 takes the else branch.</a:t>
            </a:r>
          </a:p>
          <a:p>
            <a:pPr>
              <a:spcAft>
                <a:spcPts val="1500"/>
              </a:spcAft>
              <a:defRPr sz="2800" b="0">
                <a:solidFill>
                  <a:srgbClr val="293237"/>
                </a:solidFill>
                <a:latin typeface="Arial"/>
              </a:defRPr>
            </a:pPr>
            <a:r>
              <a:t>60 takes the if branch.</a:t>
            </a:r>
          </a:p>
          <a:p>
            <a:pPr>
              <a:spcAft>
                <a:spcPts val="1500"/>
              </a:spcAft>
              <a:defRPr sz="2800" b="0">
                <a:solidFill>
                  <a:srgbClr val="293237"/>
                </a:solidFill>
                <a:latin typeface="Arial"/>
              </a:defRPr>
            </a:pPr>
            <a:r>
              <a:t>95 takes the if branch.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300" b="0">
                <a:solidFill>
                  <a:srgbClr val="293237"/>
                </a:solidFill>
                <a:latin typeface="Arial"/>
              </a:defRPr>
            </a:pPr>
            <a:r>
              <a:t>Practice: write a new comparison and two test cases.</a:t>
            </a:r>
          </a:p>
          <a:p>
            <a:pPr>
              <a:spcAft>
                <a:spcPts val="1500"/>
              </a:spcAft>
              <a:defRPr sz="2300" b="0">
                <a:solidFill>
                  <a:srgbClr val="293237"/>
                </a:solidFill>
                <a:latin typeface="Arial"/>
              </a:defRPr>
            </a:pPr>
            <a:r>
              <a:t>The threshold is an exercise rule, not an FCU grading policy.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CourseDock Demo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